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snap/amazon-fine-food-review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snap/amazon-fine-food-review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snap/amazon-fine-food-review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ap/amazon-fine-food-reviews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ap/amazon-fine-food-reviews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ap/amazon-fine-food-reviews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ap/amazon-fine-food-reviews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snap/amazon-fine-food-review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Customer Review Analysis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MongoDB Practice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0808D"/>
                </a:solidFill>
              </a:rPr>
              <a:t>IM5211701 Big Data Analytics and Applications  |  Project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6858000" cy="27432"/>
          </a:xfrm>
          <a:prstGeom prst="rect">
            <a:avLst/>
          </a:prstGeom>
          <a:solidFill>
            <a:srgbClr val="1B47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</a:rPr>
              <a:t>Team Contribution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1 – [Name]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40690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</a:rPr>
              <a:t>Data import, MongoDB schema design, indexing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531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2 – [Name]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4453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</a:rPr>
              <a:t>NLP analysis, word frequency, TF-IDF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8371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3 – [Name]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483717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</a:rPr>
              <a:t>Visualizations, insights, business recommendations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2212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4 – [Name]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522122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</a:rPr>
              <a:t>Slide preparation, presentation, Q&amp;A coordination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474D"/>
                </a:solidFill>
              </a:rPr>
              <a:t>Agenda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</a:rPr>
              <a:t>Dataset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</a:rPr>
              <a:t>Amazon Fine Food Reviews – 568K records, 10+ years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</a:rPr>
              <a:t>MongoDB Import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</a:rPr>
              <a:t>Schema design, new fields, indexing 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</a:rPr>
              <a:t>NLP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</a:rPr>
              <a:t>Word frequency, TF-IDF, bigrams, text queries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</a:rPr>
              <a:t>Visualisations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</a:rPr>
              <a:t>8 charts covering ratings, sentiment, 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880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</a:rPr>
              <a:t>Business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</a:rPr>
              <a:t>Actionable recommendations for Amazon /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74D"/>
                </a:solidFill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28016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568,454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DF0"/>
                </a:solidFill>
              </a:rPr>
              <a:t>Total Reviews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28016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155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256,059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DF0"/>
                </a:solidFill>
              </a:rPr>
              <a:t>Unique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28016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1155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74,258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DF0"/>
                </a:solidFill>
              </a:rPr>
              <a:t>Products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051560"/>
            <a:ext cx="2560320" cy="128016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1155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4.18 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611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DF0"/>
                </a:solidFill>
              </a:rPr>
              <a:t>Avg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74D"/>
                </a:solidFill>
              </a:rPr>
              <a:t>Key Fields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ProductId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Unique identifier for the product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UserId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Unique identifier for the reviewer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Star rating 1–5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Unix timestamp → converted to ReviewDate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Summary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Short review headline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Full review body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ProductURL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Amazon product link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SentimentLabel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NEW FIELD: Positive / Neutral / Negative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808D"/>
                          </a:solidFill>
                        </a:rPr>
                        <a:t>HelpfulnessRatio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51D"/>
                          </a:solidFill>
                        </a:rPr>
                        <a:t>NEW FIELD: helpful votes / total votes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0808D"/>
                </a:solidFill>
              </a:rPr>
              <a:t>★  Two new fields added during import: SentimentLabel and HelpfulnessRatio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MongoDB Import &amp; Schema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74D"/>
                </a:solidFill>
              </a:rPr>
              <a:t>Import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1.  Read Reviews_withURL.csv with pandas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2.  Derive SentimentLabel (Score ≥4 → Positive, =3 → Neutral, ≤2 → Negative)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1401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3.  Derive HelpfulnessRatio = numerator / denominator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8950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4.  Convert Unix timestamp → ReviewDate (datetime)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5.  Batch-insert 10,000 docs/batch into MongoDB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6.  Create indexes: ProductId, UserId, Score, SentimentLabel, ReviewDate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74D"/>
                </a:solidFill>
              </a:rPr>
              <a:t>Python Code Snippet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pd.read_csv("Reviews_withURL.csv")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label(score):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4: return "Positive"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== 3: return "Neutral"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"Negative"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df["SentimentLabel"] = df["Score"].apply(label)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df["HelpfulnessRatio"] = df.apply(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r: r["HelpfulnessNumerator"]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r["HelpfulnessDenominator"]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r["HelpfulnessDenominator"] &gt; 0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None, axis=1)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MongoClient("mongodb://localhost:27017")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client["amazon_reviews"]["reviews"]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col.insert_many(df.to_dict("records"))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col.create_index("ProductId")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col.create_index("SentimentLabel")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NLP – Word Frequency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</a:rPr>
              <a:t>Method: Python Counter  —  O(n) single-pass tokenisation after stopword removal and HTML stripping.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74D"/>
                </a:solidFill>
              </a:rPr>
              <a:t>Top 8 Words Overall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4389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coffee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191,977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tea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160,364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love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155,159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best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110,362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little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87,888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87,136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87,099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797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dog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83,550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4630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74D"/>
                </a:solidFill>
              </a:rPr>
              <a:t>Top Bigrams (sample of 50K reviews)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28800"/>
          <a:ext cx="62179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Bigram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7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gluten free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1,844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peanut butter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1,396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highly recommend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1,317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green tea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1,298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cup coffee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1,111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grocery store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1,076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subscribe save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759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dog loves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721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dogs love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717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808D"/>
                          </a:solidFill>
                        </a:rPr>
                        <a:t>love 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</a:rPr>
                        <a:t>714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74D"/>
                </a:solidFill>
              </a:rPr>
              <a:t>MongoDB Regex Query – Count reviews containing "delicious":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5212080"/>
            <a:ext cx="11247120" cy="5943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52578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col.count_documents({"Text": {"$regex": "delicious", "$options": "i"}})   →   39,114 reviews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Rating &amp; Sentiment Distribution</a:t>
            </a:r>
            <a:endParaRPr lang="en-US" sz="3000" dirty="0"/>
          </a:p>
        </p:txBody>
      </p:sp>
      <p:pic>
        <p:nvPicPr>
          <p:cNvPr id="4" name="Image 0" descr="/home/user/workspace/project/figures/fig1_sco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760720" cy="3657600"/>
          </a:xfrm>
          <a:prstGeom prst="rect">
            <a:avLst/>
          </a:prstGeom>
        </p:spPr>
      </p:pic>
      <p:pic>
        <p:nvPicPr>
          <p:cNvPr id="5" name="Image 1" descr="/home/user/workspace/project/figures/fig2_sentiment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74D"/>
                </a:solidFill>
              </a:rPr>
              <a:t>Key Takeaways: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78.1% of reviews are Positive (4–5 stars)  •  5-star is the single most common rating (&gt;320K reviews)  •  Only 14.4% Negative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Review Volume &amp; Rating Trends</a:t>
            </a:r>
            <a:endParaRPr lang="en-US" sz="3000" dirty="0"/>
          </a:p>
        </p:txBody>
      </p:sp>
      <p:pic>
        <p:nvPicPr>
          <p:cNvPr id="4" name="Image 0" descr="/home/user/workspace/project/figures/fig3_volume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760720" cy="3474720"/>
          </a:xfrm>
          <a:prstGeom prst="rect">
            <a:avLst/>
          </a:prstGeom>
        </p:spPr>
      </p:pic>
      <p:pic>
        <p:nvPicPr>
          <p:cNvPr id="5" name="Image 1" descr="/home/user/workspace/project/figures/fig4_avg_score_over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74D"/>
                </a:solidFill>
              </a:rPr>
              <a:t>Key Takeaways: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4937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Review volume grew ~100× from 2003 to 2012  •  Average score has remained stable near 4.2 despite volume surge  •  Engagement peaked in 2012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NLP Visualisations</a:t>
            </a:r>
            <a:endParaRPr lang="en-US" sz="3000" dirty="0"/>
          </a:p>
        </p:txBody>
      </p:sp>
      <p:pic>
        <p:nvPicPr>
          <p:cNvPr id="4" name="Image 0" descr="/home/user/workspace/project/figures/fig6_wordcloud_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6858000" cy="3474720"/>
          </a:xfrm>
          <a:prstGeom prst="rect">
            <a:avLst/>
          </a:prstGeom>
        </p:spPr>
      </p:pic>
      <p:pic>
        <p:nvPicPr>
          <p:cNvPr id="5" name="Image 1" descr="/home/user/workspace/project/figures/fig5_top20_wo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5720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74D"/>
                </a:solidFill>
              </a:rPr>
              <a:t>Key Takeaways: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4937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Coffee &amp; tea dominate positive discourse  •  'love', 'best', 'price' signal quality- and value-driven purchases  •  Top bigrams reveal dietary preferences (gluten-free, peanut butter, green tea)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Helpfulness &amp; Sentiment Over Time</a:t>
            </a:r>
            <a:endParaRPr lang="en-US" sz="3000" dirty="0"/>
          </a:p>
        </p:txBody>
      </p:sp>
      <p:pic>
        <p:nvPicPr>
          <p:cNvPr id="4" name="Image 0" descr="/home/user/workspace/project/figures/fig7_helpfulness_by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760720" cy="3474720"/>
          </a:xfrm>
          <a:prstGeom prst="rect">
            <a:avLst/>
          </a:prstGeom>
        </p:spPr>
      </p:pic>
      <p:pic>
        <p:nvPicPr>
          <p:cNvPr id="5" name="Image 1" descr="/home/user/workspace/project/figures/fig8_sentiment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74D"/>
                </a:solidFill>
              </a:rPr>
              <a:t>Key Takeaways: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4937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</a:rPr>
              <a:t>Negative reviews receive higher helpfulness votes — critical reviews are seen as more useful  •  Positive sentiment share grew from ~70% (2002) to ~80% (2012), suggesting improving product quality or stronger buyer-seller alignment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74D"/>
                </a:solidFill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2103120"/>
          </a:xfrm>
          <a:prstGeom prst="rect">
            <a:avLst/>
          </a:prstGeom>
          <a:solidFill>
            <a:srgbClr val="EEF9FA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4747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16152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Highlight Helpful Negative Reviews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</a:rPr>
              <a:t>Critical reviews receive disproportionately high helpfulness votes. Amazon should surface high-ratio negative reviews prominently to improve buyer trust and reduce returns.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0808D"/>
                </a:solidFill>
              </a:rPr>
              <a:t>For Amazon Product Team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486400" cy="2103120"/>
          </a:xfrm>
          <a:prstGeom prst="rect">
            <a:avLst/>
          </a:prstGeom>
          <a:solidFill>
            <a:srgbClr val="EEF9FA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188720"/>
            <a:ext cx="5486400" cy="34747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216152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Dietary &amp; Lifestyle Niches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162763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</a:rPr>
              <a:t>'Gluten free', 'peanut butter', 'green tea', and 'dog loves' are top bigrams. Marketing teams should develop dedicated landing pages and ad campaigns for these high-engagement niches.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0808D"/>
                </a:solidFill>
              </a:rPr>
              <a:t>For Marketing Teams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03120"/>
          </a:xfrm>
          <a:prstGeom prst="rect">
            <a:avLst/>
          </a:prstGeom>
          <a:solidFill>
            <a:srgbClr val="EEF9FA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4747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93592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Leverage 'Subscribe &amp; Save' Language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00507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</a:rPr>
              <a:t>'Subscribe save' ranks in top bigrams. Promote subscription bundles more aggressively in the food category — customers already associate value with this programme.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0808D"/>
                </a:solidFill>
              </a:rPr>
              <a:t>For Amazon Subscription Team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5486400" cy="2103120"/>
          </a:xfrm>
          <a:prstGeom prst="rect">
            <a:avLst/>
          </a:prstGeom>
          <a:solidFill>
            <a:srgbClr val="EEF9FA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566160"/>
            <a:ext cx="5486400" cy="34747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593592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 Sentiment Trends as Quality Signal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400507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</a:rPr>
              <a:t>Positive sentiment grew from 70% (2002) to 80% (2012). Use monthly sentiment tracking in MongoDB as an early-warning signal for product or supplier quality deterioration.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0808D"/>
                </a:solidFill>
              </a:rPr>
              <a:t>For Category Managers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</a:rPr>
              <a:t>Source: </a:t>
            </a:r>
            <a:pPr algn="l" indent="0" marL="0">
              <a:buNone/>
            </a:pPr>
            <a:r>
              <a:rPr lang="en-US" sz="900" u="sng" dirty="0">
                <a:solidFill>
                  <a:srgbClr val="7A797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Amazon Fine Food Reviews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Conclusion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008" cy="5486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Successfully imported 568,454 reviews into MongoDB with 2 new engineered fields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64008" cy="5486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Demonstrated efficient NLP: Counter-based O(n) word frequency, TF-IDF, and MongoDB text-index queries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64008" cy="5486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0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 visualisations uncovered rating distribution, temporal growth, topical bigrams, and helpfulness patterns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64008" cy="5486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26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Actionable insights delivered for Amazon's product, marketing, and subscription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808D"/>
                </a:solidFill>
              </a:rPr>
              <a:t>Thank you  |  Q&amp;A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2026-04-08T13:52:07Z</dcterms:created>
  <dcterms:modified xsi:type="dcterms:W3CDTF">2026-04-08T13:52:07Z</dcterms:modified>
</cp:coreProperties>
</file>